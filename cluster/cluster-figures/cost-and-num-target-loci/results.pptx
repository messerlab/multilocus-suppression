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3"/>
  </p:normalViewPr>
  <p:slideViewPr>
    <p:cSldViewPr snapToGrid="0">
      <p:cViewPr>
        <p:scale>
          <a:sx n="114" d="100"/>
          <a:sy n="114" d="100"/>
        </p:scale>
        <p:origin x="472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802C7-6643-D249-9A6F-C05ABD0EF022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52F00-5743-0546-ADAE-409B6B2FF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5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52F00-5743-0546-ADAE-409B6B2FF8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3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Tradeoff: more target loci </a:t>
            </a:r>
            <a:r>
              <a:rPr lang="en-US" dirty="0">
                <a:sym typeface="Wingdings" pitchFamily="2" charset="2"/>
              </a:rPr>
              <a:t> greater potential fitness cost but lower cleavage rate </a:t>
            </a:r>
            <a:r>
              <a:rPr lang="en-US" i="1" dirty="0">
                <a:sym typeface="Wingdings" pitchFamily="2" charset="2"/>
              </a:rPr>
              <a:t>and</a:t>
            </a:r>
            <a:r>
              <a:rPr lang="en-US" i="0" dirty="0">
                <a:sym typeface="Wingdings" pitchFamily="2" charset="2"/>
              </a:rPr>
              <a:t> conversion rate at the drive locus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Drive also gets this cleavage rate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52F00-5743-0546-ADAE-409B6B2FF8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16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B32D7-0E85-2D4D-F4B9-059D64523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83916-1F2A-FC8C-36C0-3DD97B2F2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CB736-ECC0-AF70-342A-17A11602D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Tradeoff: more target loci </a:t>
            </a:r>
            <a:r>
              <a:rPr lang="en-US" dirty="0">
                <a:sym typeface="Wingdings" pitchFamily="2" charset="2"/>
              </a:rPr>
              <a:t> greater potential fitness cost but lower cleavage rate </a:t>
            </a:r>
            <a:r>
              <a:rPr lang="en-US" i="1" dirty="0">
                <a:sym typeface="Wingdings" pitchFamily="2" charset="2"/>
              </a:rPr>
              <a:t>and</a:t>
            </a:r>
            <a:r>
              <a:rPr lang="en-US" i="0" dirty="0">
                <a:sym typeface="Wingdings" pitchFamily="2" charset="2"/>
              </a:rPr>
              <a:t> conversion rate at the drive locus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Drive also gets this cleavage rate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61334-C15C-3455-DFD3-CD0B5D5C3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52F00-5743-0546-ADAE-409B6B2FF8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83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“recovery”</a:t>
            </a:r>
          </a:p>
          <a:p>
            <a:r>
              <a:rPr lang="en-US" dirty="0"/>
              <a:t>When cleavage rate is too low, frequencies plateau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52F00-5743-0546-ADAE-409B6B2FF8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94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longer a real tradeoff</a:t>
            </a:r>
          </a:p>
          <a:p>
            <a:r>
              <a:rPr lang="en-US" dirty="0"/>
              <a:t>Can lower fitness the most with a lot of target sites and high fitness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52F00-5743-0546-ADAE-409B6B2FF8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44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1A15D-4531-E104-A56F-5085E98D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C6097-D685-89D5-A952-2E99A14C3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A6658-9411-8F4F-C6AA-FEE421E70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longer a real tradeoff</a:t>
            </a:r>
          </a:p>
          <a:p>
            <a:r>
              <a:rPr lang="en-US" dirty="0"/>
              <a:t>Can lower fitness the most with a lot of target sites and high fitness cost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CFE54-2A2C-156F-B677-46E7BEAC1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52F00-5743-0546-ADAE-409B6B2FF81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9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 set # of target loci, fitness recovers the more slowly when the fitness cost is higher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52F00-5743-0546-ADAE-409B6B2FF8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98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021F1-2C5D-F99D-77DF-6E5254895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AAADE-AF24-732D-EDC7-8581CD79B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98049-CB30-5E75-952F-555F55FB2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394-D9E2-AD42-ACB5-0C9296370CBD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2354B-08AF-2AFF-0505-B8180475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31599-D7BE-9727-2102-7C60014CF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9E8DA-DBF2-C740-BA28-FF9F5765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54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23227-8914-01FC-4E76-54221B5CB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59C55-3288-1F69-BA57-71547BA57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D4355-FA7C-A097-1B01-E3CFB9D83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394-D9E2-AD42-ACB5-0C9296370CBD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A67F7-9E8B-B8C4-B71A-4E8231EFC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B07E3-CF4C-6610-DDA4-DA636F22C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9E8DA-DBF2-C740-BA28-FF9F5765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39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3ACB-60D5-642A-A49D-7AC456FC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5BCFA-170E-48C1-02B5-27D7A46E5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F3911-48BC-9295-1682-DFCA96DF6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394-D9E2-AD42-ACB5-0C9296370CBD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D9C9B-A022-EE82-DEFF-97264B09C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B004C-FF62-F2E3-3DD0-1ECE0647A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9E8DA-DBF2-C740-BA28-FF9F5765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3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00D1-DE19-4658-291A-B368B0A4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BB8D8-A8C3-A060-F9B9-E369D52B3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67756-405B-2CA4-40CA-17758FF78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DCAD8-455A-D9B7-593B-68068CDDC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394-D9E2-AD42-ACB5-0C9296370CBD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EE799-7DDD-5A0B-3DE0-129574EF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4B2DB-F11B-4749-834C-64D610FD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9E8DA-DBF2-C740-BA28-FF9F5765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30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C3DD-6B40-51B0-F6F0-5EC22F42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33229-70AD-8B9E-17D3-B36910133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EE9AC-BF64-F35D-2338-21141D9D9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C2B52-63F5-58CA-AF6C-9A3C0257F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448E6B-94DA-76B9-66E1-A9EC8F6D5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AC353-F803-172F-568E-19F049AB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394-D9E2-AD42-ACB5-0C9296370CBD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32E48-834B-5CDA-4BC4-793E8988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36CD70-5B92-096C-AFA6-D9514B83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9E8DA-DBF2-C740-BA28-FF9F5765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5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F795-0D5C-4F8B-998D-F51071FE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62A84-5293-E148-23C1-C959AFF92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394-D9E2-AD42-ACB5-0C9296370CBD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B6978-0125-AF52-56BD-37725E8FD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CA3F1-3FF4-35F6-42FA-7BED8E658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9E8DA-DBF2-C740-BA28-FF9F5765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6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62D86E-461E-A56B-FC40-DC1F4548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394-D9E2-AD42-ACB5-0C9296370CBD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96AA15-3A38-CBBF-9CDF-AD201B5AC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9BDF1-09D5-19BA-AF2D-CC1B8A79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9E8DA-DBF2-C740-BA28-FF9F5765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42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5909-C6D7-310A-E538-380EBE760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D368F-7AD8-5774-B0E8-FBFB16E00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732F9-77F3-B459-A6F3-F54105021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1F4F2-A770-C77B-06FE-9E521366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394-D9E2-AD42-ACB5-0C9296370CBD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D73A1-D5ED-1897-888E-3854839F3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C2906-8BF9-EA7A-A4E8-AF6D0C5D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9E8DA-DBF2-C740-BA28-FF9F5765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64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7FE8-AE61-E350-A8D4-9CC4F983A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605E9C-E095-EBC9-7FD9-084D531B4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C0048-1CDC-4C8F-04CA-0B7B7593C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92D35-7EA7-0C5B-3E87-3A4DCC88A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394-D9E2-AD42-ACB5-0C9296370CBD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A300B-3E7E-0529-5D82-55A041A5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F1C9B-3BE6-C429-B741-A195B121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9E8DA-DBF2-C740-BA28-FF9F5765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48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5847-45D8-FB6D-DF7F-7D9EC830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A8A4D-BFB9-FF50-9D92-0A58DB508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527AF-1B6E-A439-75AB-F601FB02B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394-D9E2-AD42-ACB5-0C9296370CBD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CCB10-D1C3-8D64-1991-17F521F07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84DEB-1C53-D7F0-20D7-B5E1CCF2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9E8DA-DBF2-C740-BA28-FF9F5765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3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1D85C3-BECC-5883-31D2-32780B512F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4D261F-FB6B-F2B5-95CD-FED21DD7E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CE98A-FAF9-8C9C-B208-A6E2C4AEA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C394-D9E2-AD42-ACB5-0C9296370CBD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C19CE-EA03-1F9B-E86C-C2BE25190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B07DD-B6FF-A2A7-C27D-B37A2F8E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9E8DA-DBF2-C740-BA28-FF9F5765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6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C52219-32C8-AA02-E3E5-EEF01483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7250D-DE31-1330-93CD-EFF06D31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FBD13-6FCE-741E-BEAF-F21E05ED1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96C394-D9E2-AD42-ACB5-0C9296370CBD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4B723-2EEA-8679-998C-DFFF20B0A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7BC5-B514-9834-10A6-FCDAA87E2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19E8DA-DBF2-C740-BA28-FF9F57650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1B876-39B7-4E1E-E880-2D18CC930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960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WF results varying</a:t>
            </a:r>
            <a:br>
              <a:rPr lang="en-US" dirty="0"/>
            </a:br>
            <a:r>
              <a:rPr lang="en-US" dirty="0"/>
              <a:t>number of target sites &amp; </a:t>
            </a:r>
            <a:br>
              <a:rPr lang="en-US" dirty="0"/>
            </a:br>
            <a:r>
              <a:rPr lang="en-US" dirty="0"/>
              <a:t>fitness cost at each site</a:t>
            </a:r>
          </a:p>
        </p:txBody>
      </p:sp>
    </p:spTree>
    <p:extLst>
      <p:ext uri="{BB962C8B-B14F-4D97-AF65-F5344CB8AC3E}">
        <p14:creationId xmlns:p14="http://schemas.microsoft.com/office/powerpoint/2010/main" val="2897046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9064-C1E0-9047-3325-730998CA6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Cas9 saturation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983EE-95D8-2BF4-9EBC-0D4F0B8F0F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Set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𝑏𝑎𝑠𝑒𝑙𝑖𝑛𝑒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𝑐𝑙𝑒𝑎𝑣𝑎𝑔𝑒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(cleavage rate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𝑛𝑢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𝑡𝑎𝑟𝑔𝑒𝑡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𝑙𝑜𝑐𝑖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Set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𝑠𝑎𝑡𝑢𝑟𝑎𝑡𝑖𝑜𝑛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𝑓𝑎𝑐𝑡𝑜𝑟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(0 means no saturation; higher values lead to sharper decline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𝑐𝑙𝑒𝑎𝑣𝑎𝑔𝑒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𝑛𝑢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𝑡𝑎𝑟𝑔𝑒𝑡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𝑙𝑜𝑐𝑖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If Cas9 shared between drive and targets: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𝑐𝑙𝑒𝑎𝑣𝑎𝑔𝑒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𝑏𝑎𝑠𝑒𝑙𝑖𝑛𝑒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𝑐𝑙𝑒𝑎𝑣𝑎𝑔𝑒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𝑟𝑎𝑡𝑒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𝑛𝑢𝑚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𝑡𝑎𝑟𝑔𝑒𝑡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𝑙𝑜𝑐𝑖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+1)^(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𝑠𝑎𝑡𝑢𝑟𝑎𝑡𝑖𝑜𝑛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𝑓𝑎𝑐𝑡𝑜𝑟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If Cas9 is only shared between the targets, not the drive:</a:t>
                </a:r>
              </a:p>
              <a:p>
                <a:pPr lvl="1"/>
                <a:r>
                  <a:rPr lang="en-US" dirty="0"/>
                  <a:t>Set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𝑑𝑟𝑖𝑣𝑒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𝑐𝑙𝑒𝑎𝑣𝑎𝑔𝑒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𝑟𝑎𝑡𝑒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At target sites: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𝑐𝑙𝑒𝑎𝑣𝑎𝑔𝑒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𝑏𝑎𝑠𝑒𝑙𝑖𝑛𝑒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𝑐𝑙𝑒𝑎𝑣𝑎𝑔𝑒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𝑟𝑎𝑡𝑒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𝑛𝑢𝑚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𝑡𝑎𝑟𝑔𝑒𝑡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𝑙𝑜𝑐𝑖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)^(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𝑠𝑎𝑡𝑢𝑟𝑎𝑡𝑖𝑜𝑛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𝑓𝑎𝑐𝑡𝑜𝑟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983EE-95D8-2BF4-9EBC-0D4F0B8F0F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52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274E044-CB13-C331-BA9A-9EA401EFCF7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1. Shared Cas9,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𝑠𝑎𝑡𝑢𝑟𝑎𝑡𝑖𝑜𝑛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𝑓𝑎𝑐𝑡𝑜𝑟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274E044-CB13-C331-BA9A-9EA401EFCF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11B7938-7CB4-46CD-9AFD-47DC047D4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6" y="1470580"/>
            <a:ext cx="5931147" cy="46928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630E70-CCE4-FDFD-ECF1-DA17562BAD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907" y="1470580"/>
            <a:ext cx="5158820" cy="515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225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255D1-BFCF-BC36-D9D6-462CB5F6C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44F6DD1-12C8-7BB5-08EB-17F5AFF3768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1. Shared Cas9,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𝑠𝑎𝑡𝑢𝑟𝑎𝑡𝑖𝑜𝑛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𝑓𝑎𝑐𝑡𝑜𝑟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44F6DD1-12C8-7BB5-08EB-17F5AFF376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of a number of target loci&#10;&#10;Description automatically generated">
            <a:extLst>
              <a:ext uri="{FF2B5EF4-FFF2-40B4-BE49-F238E27FC236}">
                <a16:creationId xmlns:a16="http://schemas.microsoft.com/office/drawing/2014/main" id="{241F8202-883F-1DF6-37ED-05DFAA875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155" y="1686622"/>
            <a:ext cx="5663239" cy="4480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D274F2-058C-B9D2-8F54-2ED8D88BE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6" y="1470580"/>
            <a:ext cx="5931147" cy="469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55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5980AFD8-CB92-5644-219B-6862FAD1B11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1. Shared Cas9,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𝑠𝑎𝑡𝑢𝑟𝑎𝑡𝑖𝑜𝑛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𝑓𝑎𝑐𝑡𝑜𝑟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5980AFD8-CB92-5644-219B-6862FAD1B1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graph of red and grey squares&#10;&#10;Description automatically generated">
            <a:extLst>
              <a:ext uri="{FF2B5EF4-FFF2-40B4-BE49-F238E27FC236}">
                <a16:creationId xmlns:a16="http://schemas.microsoft.com/office/drawing/2014/main" id="{34218F52-6C1D-7240-7162-A9465F663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5" y="1406780"/>
            <a:ext cx="6428124" cy="5086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3A6214-86E1-072D-F055-A9D3A76E5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324" y="1628944"/>
            <a:ext cx="4925676" cy="492567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D5452F-E154-8FA7-B3DC-5560965A5577}"/>
              </a:ext>
            </a:extLst>
          </p:cNvPr>
          <p:cNvCxnSpPr/>
          <p:nvPr/>
        </p:nvCxnSpPr>
        <p:spPr>
          <a:xfrm flipH="1">
            <a:off x="5086350" y="1971675"/>
            <a:ext cx="2614613" cy="214313"/>
          </a:xfrm>
          <a:prstGeom prst="straightConnector1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014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D538D1-FAF4-CC5D-119E-AC46BCE2057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1006138" cy="1325563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2.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𝑑𝑟𝑖𝑣𝑒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𝑐𝑙𝑒𝑎𝑣𝑎𝑔𝑒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dirty="0"/>
                  <a:t>Cas9 shared between target sites with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𝑠𝑎𝑡𝑢𝑟𝑎𝑡𝑖𝑜𝑛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𝑓𝑎𝑐𝑡𝑜𝑟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D538D1-FAF4-CC5D-119E-AC46BCE20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1006138" cy="1325563"/>
              </a:xfrm>
              <a:blipFill>
                <a:blip r:embed="rId3"/>
                <a:stretch>
                  <a:fillRect l="-2076" t="-7619" r="-2768" b="-1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hart of a number of target&#10;&#10;Description automatically generated">
            <a:extLst>
              <a:ext uri="{FF2B5EF4-FFF2-40B4-BE49-F238E27FC236}">
                <a16:creationId xmlns:a16="http://schemas.microsoft.com/office/drawing/2014/main" id="{A6BA1C99-CA28-10A9-2293-25FD0459C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704975"/>
            <a:ext cx="6096000" cy="4823310"/>
          </a:xfrm>
          <a:prstGeom prst="rect">
            <a:avLst/>
          </a:prstGeom>
        </p:spPr>
      </p:pic>
      <p:pic>
        <p:nvPicPr>
          <p:cNvPr id="7" name="Picture 6" descr="A graph of a number of target loci&#10;&#10;Description automatically generated">
            <a:extLst>
              <a:ext uri="{FF2B5EF4-FFF2-40B4-BE49-F238E27FC236}">
                <a16:creationId xmlns:a16="http://schemas.microsoft.com/office/drawing/2014/main" id="{75C965F2-8B54-7970-7DC8-DD59CA464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413" y="1559167"/>
            <a:ext cx="5114925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3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D1EB8-4EE3-1EC9-D7C6-AF8AF7D78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B396985-D0E7-B5A6-7F24-019840D11D8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1006138" cy="1325563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2.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𝑑𝑟𝑖𝑣𝑒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𝑐𝑙𝑒𝑎𝑣𝑎𝑔𝑒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dirty="0"/>
                  <a:t>Cas9 shared between target sites with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𝑠𝑎𝑡𝑢𝑟𝑎𝑡𝑖𝑜𝑛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𝑓𝑎𝑐𝑡𝑜𝑟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B396985-D0E7-B5A6-7F24-019840D11D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1006138" cy="1325563"/>
              </a:xfrm>
              <a:blipFill>
                <a:blip r:embed="rId3"/>
                <a:stretch>
                  <a:fillRect l="-2076" t="-7619" r="-2768" b="-1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hart of a number of target&#10;&#10;Description automatically generated">
            <a:extLst>
              <a:ext uri="{FF2B5EF4-FFF2-40B4-BE49-F238E27FC236}">
                <a16:creationId xmlns:a16="http://schemas.microsoft.com/office/drawing/2014/main" id="{4A3918AE-C7BF-E604-7B45-7918F2C16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704975"/>
            <a:ext cx="6096000" cy="4823310"/>
          </a:xfrm>
          <a:prstGeom prst="rect">
            <a:avLst/>
          </a:prstGeom>
        </p:spPr>
      </p:pic>
      <p:pic>
        <p:nvPicPr>
          <p:cNvPr id="4" name="Picture 3" descr="A graph of a number of target loci&#10;&#10;Description automatically generated">
            <a:extLst>
              <a:ext uri="{FF2B5EF4-FFF2-40B4-BE49-F238E27FC236}">
                <a16:creationId xmlns:a16="http://schemas.microsoft.com/office/drawing/2014/main" id="{A67E9A4D-9754-A955-E30D-5967DE531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641" y="1855237"/>
            <a:ext cx="5554359" cy="439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85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8CD5C9DE-0617-33A2-D511-ACD3B68BB1F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1006138" cy="1325563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2.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𝑑𝑟𝑖𝑣𝑒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𝑐𝑙𝑒𝑎𝑣𝑎𝑔𝑒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dirty="0"/>
                  <a:t>Cas9 shared between target sites with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𝑠𝑎𝑡𝑢𝑟𝑎𝑡𝑖𝑜𝑛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𝑓𝑎𝑐𝑡𝑜𝑟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8CD5C9DE-0617-33A2-D511-ACD3B68BB1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1006138" cy="1325563"/>
              </a:xfrm>
              <a:blipFill>
                <a:blip r:embed="rId3"/>
                <a:stretch>
                  <a:fillRect l="-2076" t="-7619" r="-2768" b="-1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red squares with black text&#10;&#10;Description automatically generated">
            <a:extLst>
              <a:ext uri="{FF2B5EF4-FFF2-40B4-BE49-F238E27FC236}">
                <a16:creationId xmlns:a16="http://schemas.microsoft.com/office/drawing/2014/main" id="{C1C421E1-5EB7-B9CB-D532-4FED8C9A8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12" y="1690688"/>
            <a:ext cx="6245226" cy="494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7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671AD4-BECE-02A7-0C63-E24E36B37D9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42962" y="379413"/>
                <a:ext cx="12244387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500" dirty="0"/>
                  <a:t>3. No saturation and no sharing: </a:t>
                </a:r>
                <a:br>
                  <a:rPr lang="en-US" sz="35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𝑑𝑟𝑖𝑣𝑒</m:t>
                    </m:r>
                    <m:r>
                      <m:rPr>
                        <m:lit/>
                      </m:rPr>
                      <a:rPr lang="en-US" sz="35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𝑐𝑙𝑒𝑎𝑣𝑎𝑔𝑒</m:t>
                    </m:r>
                    <m:r>
                      <m:rPr>
                        <m:lit/>
                      </m:rPr>
                      <a:rPr lang="en-US" sz="35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500" dirty="0"/>
                  <a:t>; </a:t>
                </a:r>
                <a14:m>
                  <m:oMath xmlns:m="http://schemas.openxmlformats.org/officeDocument/2006/math"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𝑡𝑎𝑟𝑔𝑒𝑡</m:t>
                    </m:r>
                    <m:r>
                      <m:rPr>
                        <m:lit/>
                      </m:rPr>
                      <a:rPr lang="en-US" sz="35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𝑐𝑙𝑒𝑎𝑣𝑎𝑔𝑒</m:t>
                    </m:r>
                    <m:r>
                      <m:rPr>
                        <m:lit/>
                      </m:rPr>
                      <a:rPr lang="en-US" sz="35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endParaRPr lang="en-US" sz="35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671AD4-BECE-02A7-0C63-E24E36B37D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42962" y="379413"/>
                <a:ext cx="12244387" cy="1325563"/>
              </a:xfrm>
              <a:blipFill>
                <a:blip r:embed="rId2"/>
                <a:stretch>
                  <a:fillRect l="-1451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number of target&#10;&#10;Description automatically generated with medium confidence">
            <a:extLst>
              <a:ext uri="{FF2B5EF4-FFF2-40B4-BE49-F238E27FC236}">
                <a16:creationId xmlns:a16="http://schemas.microsoft.com/office/drawing/2014/main" id="{1BECB667-8278-7CEF-33F8-A0A463195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1660877"/>
            <a:ext cx="5030788" cy="5089172"/>
          </a:xfrm>
          <a:prstGeom prst="rect">
            <a:avLst/>
          </a:prstGeom>
        </p:spPr>
      </p:pic>
      <p:pic>
        <p:nvPicPr>
          <p:cNvPr id="8" name="Picture 7" descr="A graph of a number of target&#10;&#10;Description automatically generated">
            <a:extLst>
              <a:ext uri="{FF2B5EF4-FFF2-40B4-BE49-F238E27FC236}">
                <a16:creationId xmlns:a16="http://schemas.microsoft.com/office/drawing/2014/main" id="{DB4AE070-CE8F-33CA-2DD7-5D45BB0F3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800" y="1660876"/>
            <a:ext cx="5030788" cy="5089173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84AD0F-C253-15EE-AA4F-3B9BB24DD76C}"/>
              </a:ext>
            </a:extLst>
          </p:cNvPr>
          <p:cNvCxnSpPr/>
          <p:nvPr/>
        </p:nvCxnSpPr>
        <p:spPr>
          <a:xfrm flipH="1">
            <a:off x="3429000" y="1985963"/>
            <a:ext cx="1157288" cy="8858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BFF6EF-47AF-5C5E-F5E1-537E7F8BBC58}"/>
              </a:ext>
            </a:extLst>
          </p:cNvPr>
          <p:cNvSpPr txBox="1"/>
          <p:nvPr/>
        </p:nvSpPr>
        <p:spPr>
          <a:xfrm>
            <a:off x="4528344" y="1662797"/>
            <a:ext cx="358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Issues with total fitness being &lt; 0 (need to set s &lt; 1)</a:t>
            </a:r>
          </a:p>
        </p:txBody>
      </p:sp>
    </p:spTree>
    <p:extLst>
      <p:ext uri="{BB962C8B-B14F-4D97-AF65-F5344CB8AC3E}">
        <p14:creationId xmlns:p14="http://schemas.microsoft.com/office/powerpoint/2010/main" val="925137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squares with numbers and a number of target&#10;&#10;Description automatically generated">
            <a:extLst>
              <a:ext uri="{FF2B5EF4-FFF2-40B4-BE49-F238E27FC236}">
                <a16:creationId xmlns:a16="http://schemas.microsoft.com/office/drawing/2014/main" id="{8D816942-4529-CCEC-258D-C8105B766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1287527"/>
            <a:ext cx="5329237" cy="53910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C3E0DFD9-8F80-5894-9C88-5BAA9B6F61B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42962" y="379413"/>
                <a:ext cx="12244387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500" dirty="0"/>
                  <a:t>3. No saturation and no sharing: </a:t>
                </a:r>
                <a:br>
                  <a:rPr lang="en-US" sz="35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𝑑𝑟𝑖𝑣𝑒</m:t>
                    </m:r>
                    <m:r>
                      <m:rPr>
                        <m:lit/>
                      </m:rPr>
                      <a:rPr lang="en-US" sz="35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𝑐𝑙𝑒𝑎𝑣𝑎𝑔𝑒</m:t>
                    </m:r>
                    <m:r>
                      <m:rPr>
                        <m:lit/>
                      </m:rPr>
                      <a:rPr lang="en-US" sz="35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500" dirty="0"/>
                  <a:t>; </a:t>
                </a:r>
                <a14:m>
                  <m:oMath xmlns:m="http://schemas.openxmlformats.org/officeDocument/2006/math"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𝑡𝑎𝑟𝑔𝑒𝑡</m:t>
                    </m:r>
                    <m:r>
                      <m:rPr>
                        <m:lit/>
                      </m:rPr>
                      <a:rPr lang="en-US" sz="35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𝑐𝑙𝑒𝑎𝑣𝑎𝑔𝑒</m:t>
                    </m:r>
                    <m:r>
                      <m:rPr>
                        <m:lit/>
                      </m:rPr>
                      <a:rPr lang="en-US" sz="35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endParaRPr lang="en-US" sz="3500" dirty="0"/>
              </a:p>
            </p:txBody>
          </p:sp>
        </mc:Choice>
        <mc:Fallback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C3E0DFD9-8F80-5894-9C88-5BAA9B6F6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42962" y="379413"/>
                <a:ext cx="12244387" cy="1325563"/>
              </a:xfrm>
              <a:blipFill>
                <a:blip r:embed="rId3"/>
                <a:stretch>
                  <a:fillRect l="-1451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0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397</Words>
  <Application>Microsoft Macintosh PowerPoint</Application>
  <PresentationFormat>Widescreen</PresentationFormat>
  <Paragraphs>41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Wingdings</vt:lpstr>
      <vt:lpstr>Office Theme</vt:lpstr>
      <vt:lpstr>WF results varying number of target sites &amp;  fitness cost at each site</vt:lpstr>
      <vt:lpstr>Proposed Cas9 saturation equation</vt:lpstr>
      <vt:lpstr>1. Shared Cas9, saturation\_factor=0.5</vt:lpstr>
      <vt:lpstr>1. Shared Cas9, saturation\_factor=0.5</vt:lpstr>
      <vt:lpstr>1. Shared Cas9, saturation\_factor=0.5</vt:lpstr>
      <vt:lpstr>2. drive\_cleavage\_rate=1; Cas9 shared between target sites with saturation\_factor=0.5 </vt:lpstr>
      <vt:lpstr>2. drive\_cleavage\_rate=1; Cas9 shared between target sites with saturation\_factor=0.5 </vt:lpstr>
      <vt:lpstr>2. drive\_cleavage\_rate=1; Cas9 shared between target sites with saturation\_factor=0.5 </vt:lpstr>
      <vt:lpstr>3. No saturation and no sharing:  drive\_cleavage\_rate=1; target\_cleavage\_rate=0.8</vt:lpstr>
      <vt:lpstr>3. No saturation and no sharing:  drive\_cleavage\_rate=1; target\_cleavage\_rate=0.8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 Kathryn Kim</dc:creator>
  <cp:lastModifiedBy>Isabel Kathryn Kim</cp:lastModifiedBy>
  <cp:revision>21</cp:revision>
  <dcterms:created xsi:type="dcterms:W3CDTF">2025-10-15T13:21:53Z</dcterms:created>
  <dcterms:modified xsi:type="dcterms:W3CDTF">2025-10-15T20:15:45Z</dcterms:modified>
</cp:coreProperties>
</file>